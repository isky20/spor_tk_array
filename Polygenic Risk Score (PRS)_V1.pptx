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sldIdLst>
    <p:sldId id="256" r:id="rId2"/>
    <p:sldId id="264" r:id="rId3"/>
    <p:sldId id="265" r:id="rId4"/>
    <p:sldId id="266" r:id="rId5"/>
    <p:sldId id="267" r:id="rId6"/>
    <p:sldId id="263" r:id="rId7"/>
    <p:sldId id="270" r:id="rId8"/>
    <p:sldId id="269" r:id="rId9"/>
    <p:sldId id="262" r:id="rId10"/>
    <p:sldId id="271" r:id="rId11"/>
    <p:sldId id="273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388423-98F6-4EB5-8120-01886D2030F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A7A3642-B95A-463F-A495-6B995852A2D5}">
      <dgm:prSet/>
      <dgm:spPr/>
      <dgm:t>
        <a:bodyPr/>
        <a:lstStyle/>
        <a:p>
          <a:r>
            <a:rPr lang="en-GB"/>
            <a:t>A single numerical metric that estimates an individual’s genetic risk for a particular disease or trait (phenotype).</a:t>
          </a:r>
          <a:endParaRPr lang="en-US"/>
        </a:p>
      </dgm:t>
    </dgm:pt>
    <dgm:pt modelId="{B7FC3859-2702-480D-B043-6442FD75BD45}" type="parTrans" cxnId="{AC882406-982B-49A7-949D-6DFEF7363756}">
      <dgm:prSet/>
      <dgm:spPr/>
      <dgm:t>
        <a:bodyPr/>
        <a:lstStyle/>
        <a:p>
          <a:endParaRPr lang="en-US"/>
        </a:p>
      </dgm:t>
    </dgm:pt>
    <dgm:pt modelId="{250DB640-34E1-4294-8756-65153290A85A}" type="sibTrans" cxnId="{AC882406-982B-49A7-949D-6DFEF7363756}">
      <dgm:prSet/>
      <dgm:spPr/>
      <dgm:t>
        <a:bodyPr/>
        <a:lstStyle/>
        <a:p>
          <a:endParaRPr lang="en-US"/>
        </a:p>
      </dgm:t>
    </dgm:pt>
    <dgm:pt modelId="{92880C16-64BA-4315-BF32-BD83F0FE40ED}">
      <dgm:prSet/>
      <dgm:spPr/>
      <dgm:t>
        <a:bodyPr/>
        <a:lstStyle/>
        <a:p>
          <a:r>
            <a:rPr lang="en-GB"/>
            <a:t>This score is calculated by summing the contributions of risk alleles carried by the individual, each weighted by its respective effect size as determined by a Genome-Wide Association Study (GWAS) specific to the phenotype in question.</a:t>
          </a:r>
          <a:endParaRPr lang="en-US"/>
        </a:p>
      </dgm:t>
    </dgm:pt>
    <dgm:pt modelId="{AA32DA18-3375-4092-BE28-2A02C7149D56}" type="parTrans" cxnId="{0FF4DE9F-5380-48F5-952C-51E416ECD557}">
      <dgm:prSet/>
      <dgm:spPr/>
      <dgm:t>
        <a:bodyPr/>
        <a:lstStyle/>
        <a:p>
          <a:endParaRPr lang="en-US"/>
        </a:p>
      </dgm:t>
    </dgm:pt>
    <dgm:pt modelId="{C967929E-FC61-46B9-8C6A-1CA6377274C3}" type="sibTrans" cxnId="{0FF4DE9F-5380-48F5-952C-51E416ECD557}">
      <dgm:prSet/>
      <dgm:spPr/>
      <dgm:t>
        <a:bodyPr/>
        <a:lstStyle/>
        <a:p>
          <a:endParaRPr lang="en-US"/>
        </a:p>
      </dgm:t>
    </dgm:pt>
    <dgm:pt modelId="{8DE6530A-5C81-4BB1-8AD1-C26B7C094787}" type="pres">
      <dgm:prSet presAssocID="{A8388423-98F6-4EB5-8120-01886D2030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4ED6A95-DF6B-477A-8B7F-B067ED3A5469}" type="pres">
      <dgm:prSet presAssocID="{3A7A3642-B95A-463F-A495-6B995852A2D5}" presName="hierRoot1" presStyleCnt="0"/>
      <dgm:spPr/>
    </dgm:pt>
    <dgm:pt modelId="{3357A5E2-F263-4968-9E90-9335FABBA7C9}" type="pres">
      <dgm:prSet presAssocID="{3A7A3642-B95A-463F-A495-6B995852A2D5}" presName="composite" presStyleCnt="0"/>
      <dgm:spPr/>
    </dgm:pt>
    <dgm:pt modelId="{F790FD27-AC43-405F-BBF7-72C65BE63625}" type="pres">
      <dgm:prSet presAssocID="{3A7A3642-B95A-463F-A495-6B995852A2D5}" presName="background" presStyleLbl="node0" presStyleIdx="0" presStyleCnt="2"/>
      <dgm:spPr/>
    </dgm:pt>
    <dgm:pt modelId="{8A16728C-FDA9-4276-A43A-9871E63A8043}" type="pres">
      <dgm:prSet presAssocID="{3A7A3642-B95A-463F-A495-6B995852A2D5}" presName="text" presStyleLbl="fgAcc0" presStyleIdx="0" presStyleCnt="2">
        <dgm:presLayoutVars>
          <dgm:chPref val="3"/>
        </dgm:presLayoutVars>
      </dgm:prSet>
      <dgm:spPr/>
    </dgm:pt>
    <dgm:pt modelId="{A1B9AA02-E232-4CDE-B611-CA0565E10422}" type="pres">
      <dgm:prSet presAssocID="{3A7A3642-B95A-463F-A495-6B995852A2D5}" presName="hierChild2" presStyleCnt="0"/>
      <dgm:spPr/>
    </dgm:pt>
    <dgm:pt modelId="{42DE9E46-C790-44D0-AF8A-112383004D0E}" type="pres">
      <dgm:prSet presAssocID="{92880C16-64BA-4315-BF32-BD83F0FE40ED}" presName="hierRoot1" presStyleCnt="0"/>
      <dgm:spPr/>
    </dgm:pt>
    <dgm:pt modelId="{73D99F1A-07D5-48CB-B76A-CE808285C8D2}" type="pres">
      <dgm:prSet presAssocID="{92880C16-64BA-4315-BF32-BD83F0FE40ED}" presName="composite" presStyleCnt="0"/>
      <dgm:spPr/>
    </dgm:pt>
    <dgm:pt modelId="{5E296B68-BCC3-465C-9E05-A028F9180941}" type="pres">
      <dgm:prSet presAssocID="{92880C16-64BA-4315-BF32-BD83F0FE40ED}" presName="background" presStyleLbl="node0" presStyleIdx="1" presStyleCnt="2"/>
      <dgm:spPr/>
    </dgm:pt>
    <dgm:pt modelId="{8FDB2E51-1869-4278-90BC-D3C0C3BB0B55}" type="pres">
      <dgm:prSet presAssocID="{92880C16-64BA-4315-BF32-BD83F0FE40ED}" presName="text" presStyleLbl="fgAcc0" presStyleIdx="1" presStyleCnt="2">
        <dgm:presLayoutVars>
          <dgm:chPref val="3"/>
        </dgm:presLayoutVars>
      </dgm:prSet>
      <dgm:spPr/>
    </dgm:pt>
    <dgm:pt modelId="{886D91C8-523D-401E-8A86-E58BE7DCC498}" type="pres">
      <dgm:prSet presAssocID="{92880C16-64BA-4315-BF32-BD83F0FE40ED}" presName="hierChild2" presStyleCnt="0"/>
      <dgm:spPr/>
    </dgm:pt>
  </dgm:ptLst>
  <dgm:cxnLst>
    <dgm:cxn modelId="{A9203A04-5F65-47FD-B1EA-D014CC877115}" type="presOf" srcId="{92880C16-64BA-4315-BF32-BD83F0FE40ED}" destId="{8FDB2E51-1869-4278-90BC-D3C0C3BB0B55}" srcOrd="0" destOrd="0" presId="urn:microsoft.com/office/officeart/2005/8/layout/hierarchy1"/>
    <dgm:cxn modelId="{AC882406-982B-49A7-949D-6DFEF7363756}" srcId="{A8388423-98F6-4EB5-8120-01886D2030FF}" destId="{3A7A3642-B95A-463F-A495-6B995852A2D5}" srcOrd="0" destOrd="0" parTransId="{B7FC3859-2702-480D-B043-6442FD75BD45}" sibTransId="{250DB640-34E1-4294-8756-65153290A85A}"/>
    <dgm:cxn modelId="{00AB5239-1937-4E73-B6B1-80E78897CF42}" type="presOf" srcId="{3A7A3642-B95A-463F-A495-6B995852A2D5}" destId="{8A16728C-FDA9-4276-A43A-9871E63A8043}" srcOrd="0" destOrd="0" presId="urn:microsoft.com/office/officeart/2005/8/layout/hierarchy1"/>
    <dgm:cxn modelId="{227EBF6B-53A9-49A9-9823-926D9B6501DA}" type="presOf" srcId="{A8388423-98F6-4EB5-8120-01886D2030FF}" destId="{8DE6530A-5C81-4BB1-8AD1-C26B7C094787}" srcOrd="0" destOrd="0" presId="urn:microsoft.com/office/officeart/2005/8/layout/hierarchy1"/>
    <dgm:cxn modelId="{0FF4DE9F-5380-48F5-952C-51E416ECD557}" srcId="{A8388423-98F6-4EB5-8120-01886D2030FF}" destId="{92880C16-64BA-4315-BF32-BD83F0FE40ED}" srcOrd="1" destOrd="0" parTransId="{AA32DA18-3375-4092-BE28-2A02C7149D56}" sibTransId="{C967929E-FC61-46B9-8C6A-1CA6377274C3}"/>
    <dgm:cxn modelId="{4741EF97-710B-46F9-9B7C-42D157570EFE}" type="presParOf" srcId="{8DE6530A-5C81-4BB1-8AD1-C26B7C094787}" destId="{E4ED6A95-DF6B-477A-8B7F-B067ED3A5469}" srcOrd="0" destOrd="0" presId="urn:microsoft.com/office/officeart/2005/8/layout/hierarchy1"/>
    <dgm:cxn modelId="{A169B35D-0097-4AD5-91F2-E2ECE59F35C3}" type="presParOf" srcId="{E4ED6A95-DF6B-477A-8B7F-B067ED3A5469}" destId="{3357A5E2-F263-4968-9E90-9335FABBA7C9}" srcOrd="0" destOrd="0" presId="urn:microsoft.com/office/officeart/2005/8/layout/hierarchy1"/>
    <dgm:cxn modelId="{E89B683D-2224-4BD1-8E71-59AB36DA17AB}" type="presParOf" srcId="{3357A5E2-F263-4968-9E90-9335FABBA7C9}" destId="{F790FD27-AC43-405F-BBF7-72C65BE63625}" srcOrd="0" destOrd="0" presId="urn:microsoft.com/office/officeart/2005/8/layout/hierarchy1"/>
    <dgm:cxn modelId="{3A415432-BD96-406A-AA13-0EFFFF6A5F17}" type="presParOf" srcId="{3357A5E2-F263-4968-9E90-9335FABBA7C9}" destId="{8A16728C-FDA9-4276-A43A-9871E63A8043}" srcOrd="1" destOrd="0" presId="urn:microsoft.com/office/officeart/2005/8/layout/hierarchy1"/>
    <dgm:cxn modelId="{5DE776C5-77F1-4B3A-9C99-8C621E86C155}" type="presParOf" srcId="{E4ED6A95-DF6B-477A-8B7F-B067ED3A5469}" destId="{A1B9AA02-E232-4CDE-B611-CA0565E10422}" srcOrd="1" destOrd="0" presId="urn:microsoft.com/office/officeart/2005/8/layout/hierarchy1"/>
    <dgm:cxn modelId="{BAB5B086-E6F4-431C-8C43-F447094DB34C}" type="presParOf" srcId="{8DE6530A-5C81-4BB1-8AD1-C26B7C094787}" destId="{42DE9E46-C790-44D0-AF8A-112383004D0E}" srcOrd="1" destOrd="0" presId="urn:microsoft.com/office/officeart/2005/8/layout/hierarchy1"/>
    <dgm:cxn modelId="{F29084A1-ABFC-432C-8C98-CE634027144E}" type="presParOf" srcId="{42DE9E46-C790-44D0-AF8A-112383004D0E}" destId="{73D99F1A-07D5-48CB-B76A-CE808285C8D2}" srcOrd="0" destOrd="0" presId="urn:microsoft.com/office/officeart/2005/8/layout/hierarchy1"/>
    <dgm:cxn modelId="{3FBE4AFA-FB1A-4BCD-AD8D-3F435939958F}" type="presParOf" srcId="{73D99F1A-07D5-48CB-B76A-CE808285C8D2}" destId="{5E296B68-BCC3-465C-9E05-A028F9180941}" srcOrd="0" destOrd="0" presId="urn:microsoft.com/office/officeart/2005/8/layout/hierarchy1"/>
    <dgm:cxn modelId="{7529E7DC-D263-4DD4-941C-8D386316B4C9}" type="presParOf" srcId="{73D99F1A-07D5-48CB-B76A-CE808285C8D2}" destId="{8FDB2E51-1869-4278-90BC-D3C0C3BB0B55}" srcOrd="1" destOrd="0" presId="urn:microsoft.com/office/officeart/2005/8/layout/hierarchy1"/>
    <dgm:cxn modelId="{96958E71-3210-4F8A-98A7-8356B00B4A9B}" type="presParOf" srcId="{42DE9E46-C790-44D0-AF8A-112383004D0E}" destId="{886D91C8-523D-401E-8A86-E58BE7DCC49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FA2301-EE89-4B0F-A99B-BAE1F7E1939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2F356B-CE4C-4129-A418-DED7FCDB5CAA}">
      <dgm:prSet/>
      <dgm:spPr/>
      <dgm:t>
        <a:bodyPr/>
        <a:lstStyle/>
        <a:p>
          <a:r>
            <a:rPr lang="en-GB"/>
            <a:t>Disease risk prediction</a:t>
          </a:r>
          <a:endParaRPr lang="en-US"/>
        </a:p>
      </dgm:t>
    </dgm:pt>
    <dgm:pt modelId="{1D22D13C-7384-4969-BCD1-04A51BBEEE22}" type="parTrans" cxnId="{1616964F-D2CB-427D-A72C-26BF245FC26D}">
      <dgm:prSet/>
      <dgm:spPr/>
      <dgm:t>
        <a:bodyPr/>
        <a:lstStyle/>
        <a:p>
          <a:endParaRPr lang="en-US"/>
        </a:p>
      </dgm:t>
    </dgm:pt>
    <dgm:pt modelId="{9EBC29D1-B515-44B8-BC6D-D098A8B230E0}" type="sibTrans" cxnId="{1616964F-D2CB-427D-A72C-26BF245FC26D}">
      <dgm:prSet/>
      <dgm:spPr/>
      <dgm:t>
        <a:bodyPr/>
        <a:lstStyle/>
        <a:p>
          <a:endParaRPr lang="en-US"/>
        </a:p>
      </dgm:t>
    </dgm:pt>
    <dgm:pt modelId="{C51C3893-C756-4389-AD4C-25BA55FD6844}">
      <dgm:prSet/>
      <dgm:spPr/>
      <dgm:t>
        <a:bodyPr/>
        <a:lstStyle/>
        <a:p>
          <a:r>
            <a:rPr lang="en-GB"/>
            <a:t>Screening and prevention.</a:t>
          </a:r>
          <a:endParaRPr lang="en-US"/>
        </a:p>
      </dgm:t>
    </dgm:pt>
    <dgm:pt modelId="{C16796A8-918E-459A-803D-E48D290B9CD9}" type="parTrans" cxnId="{C420BB35-ED5C-4292-8741-941D82AAA98F}">
      <dgm:prSet/>
      <dgm:spPr/>
      <dgm:t>
        <a:bodyPr/>
        <a:lstStyle/>
        <a:p>
          <a:endParaRPr lang="en-US"/>
        </a:p>
      </dgm:t>
    </dgm:pt>
    <dgm:pt modelId="{B8C9C94A-6ACE-427A-82D7-E91479448E0D}" type="sibTrans" cxnId="{C420BB35-ED5C-4292-8741-941D82AAA98F}">
      <dgm:prSet/>
      <dgm:spPr/>
      <dgm:t>
        <a:bodyPr/>
        <a:lstStyle/>
        <a:p>
          <a:endParaRPr lang="en-US"/>
        </a:p>
      </dgm:t>
    </dgm:pt>
    <dgm:pt modelId="{7AB38CBA-65A9-43E2-BBFC-6C01566CD50D}">
      <dgm:prSet/>
      <dgm:spPr/>
      <dgm:t>
        <a:bodyPr/>
        <a:lstStyle/>
        <a:p>
          <a:r>
            <a:rPr lang="en-GB"/>
            <a:t>Personalized treatment</a:t>
          </a:r>
          <a:endParaRPr lang="en-US"/>
        </a:p>
      </dgm:t>
    </dgm:pt>
    <dgm:pt modelId="{CD7BFDE0-778F-447C-8F00-B7CECEEF31F3}" type="parTrans" cxnId="{5A1FEA4B-72A1-47C3-9D81-BA4A0E2F0AB7}">
      <dgm:prSet/>
      <dgm:spPr/>
      <dgm:t>
        <a:bodyPr/>
        <a:lstStyle/>
        <a:p>
          <a:endParaRPr lang="en-US"/>
        </a:p>
      </dgm:t>
    </dgm:pt>
    <dgm:pt modelId="{E121A157-12E7-49C6-A38A-BFE4354686BA}" type="sibTrans" cxnId="{5A1FEA4B-72A1-47C3-9D81-BA4A0E2F0AB7}">
      <dgm:prSet/>
      <dgm:spPr/>
      <dgm:t>
        <a:bodyPr/>
        <a:lstStyle/>
        <a:p>
          <a:endParaRPr lang="en-US"/>
        </a:p>
      </dgm:t>
    </dgm:pt>
    <dgm:pt modelId="{7E884B53-A8C4-4FA7-A90F-5104D1F5FD0F}">
      <dgm:prSet/>
      <dgm:spPr/>
      <dgm:t>
        <a:bodyPr/>
        <a:lstStyle/>
        <a:p>
          <a:r>
            <a:rPr lang="en-GB"/>
            <a:t>Epidemiological Studies</a:t>
          </a:r>
          <a:endParaRPr lang="en-US"/>
        </a:p>
      </dgm:t>
    </dgm:pt>
    <dgm:pt modelId="{9D85EFC9-FF51-49ED-BC7D-BD2AEF013217}" type="parTrans" cxnId="{1C1F7240-3058-4E94-81B1-EE1FB691D081}">
      <dgm:prSet/>
      <dgm:spPr/>
      <dgm:t>
        <a:bodyPr/>
        <a:lstStyle/>
        <a:p>
          <a:endParaRPr lang="en-US"/>
        </a:p>
      </dgm:t>
    </dgm:pt>
    <dgm:pt modelId="{D3C3C3C4-A319-4CB4-BDAE-89A813896E23}" type="sibTrans" cxnId="{1C1F7240-3058-4E94-81B1-EE1FB691D081}">
      <dgm:prSet/>
      <dgm:spPr/>
      <dgm:t>
        <a:bodyPr/>
        <a:lstStyle/>
        <a:p>
          <a:endParaRPr lang="en-US"/>
        </a:p>
      </dgm:t>
    </dgm:pt>
    <dgm:pt modelId="{CBF0AB7C-CFCB-4BB1-B089-FFC87E6B6A99}">
      <dgm:prSet/>
      <dgm:spPr/>
      <dgm:t>
        <a:bodyPr/>
        <a:lstStyle/>
        <a:p>
          <a:r>
            <a:rPr lang="en-GB"/>
            <a:t>Drug Development</a:t>
          </a:r>
          <a:endParaRPr lang="en-US"/>
        </a:p>
      </dgm:t>
    </dgm:pt>
    <dgm:pt modelId="{5823887F-CD77-4243-BDF0-48F61833B4EF}" type="parTrans" cxnId="{EE0649A3-C92C-4CEA-A829-6269C0494546}">
      <dgm:prSet/>
      <dgm:spPr/>
      <dgm:t>
        <a:bodyPr/>
        <a:lstStyle/>
        <a:p>
          <a:endParaRPr lang="en-US"/>
        </a:p>
      </dgm:t>
    </dgm:pt>
    <dgm:pt modelId="{D7121C0D-382E-4AE6-9A9C-C58AB4B1A4C3}" type="sibTrans" cxnId="{EE0649A3-C92C-4CEA-A829-6269C0494546}">
      <dgm:prSet/>
      <dgm:spPr/>
      <dgm:t>
        <a:bodyPr/>
        <a:lstStyle/>
        <a:p>
          <a:endParaRPr lang="en-US"/>
        </a:p>
      </dgm:t>
    </dgm:pt>
    <dgm:pt modelId="{81AA7C32-3A89-4F3B-AF22-706071BBB2B9}" type="pres">
      <dgm:prSet presAssocID="{9DFA2301-EE89-4B0F-A99B-BAE1F7E19390}" presName="diagram" presStyleCnt="0">
        <dgm:presLayoutVars>
          <dgm:dir/>
          <dgm:resizeHandles val="exact"/>
        </dgm:presLayoutVars>
      </dgm:prSet>
      <dgm:spPr/>
    </dgm:pt>
    <dgm:pt modelId="{E6CEEB0A-8957-4682-A816-0E5646726F2F}" type="pres">
      <dgm:prSet presAssocID="{2E2F356B-CE4C-4129-A418-DED7FCDB5CAA}" presName="node" presStyleLbl="node1" presStyleIdx="0" presStyleCnt="5">
        <dgm:presLayoutVars>
          <dgm:bulletEnabled val="1"/>
        </dgm:presLayoutVars>
      </dgm:prSet>
      <dgm:spPr/>
    </dgm:pt>
    <dgm:pt modelId="{DEE51627-724E-4C17-B7D2-5A57855C3711}" type="pres">
      <dgm:prSet presAssocID="{9EBC29D1-B515-44B8-BC6D-D098A8B230E0}" presName="sibTrans" presStyleCnt="0"/>
      <dgm:spPr/>
    </dgm:pt>
    <dgm:pt modelId="{01C615FB-BB6B-44BC-BE10-08C90F4F9345}" type="pres">
      <dgm:prSet presAssocID="{C51C3893-C756-4389-AD4C-25BA55FD6844}" presName="node" presStyleLbl="node1" presStyleIdx="1" presStyleCnt="5">
        <dgm:presLayoutVars>
          <dgm:bulletEnabled val="1"/>
        </dgm:presLayoutVars>
      </dgm:prSet>
      <dgm:spPr/>
    </dgm:pt>
    <dgm:pt modelId="{3B50B919-29F8-459A-9D54-8FEF9AD4F867}" type="pres">
      <dgm:prSet presAssocID="{B8C9C94A-6ACE-427A-82D7-E91479448E0D}" presName="sibTrans" presStyleCnt="0"/>
      <dgm:spPr/>
    </dgm:pt>
    <dgm:pt modelId="{95FFE8A0-757A-4993-842B-8042AD009A4C}" type="pres">
      <dgm:prSet presAssocID="{7AB38CBA-65A9-43E2-BBFC-6C01566CD50D}" presName="node" presStyleLbl="node1" presStyleIdx="2" presStyleCnt="5">
        <dgm:presLayoutVars>
          <dgm:bulletEnabled val="1"/>
        </dgm:presLayoutVars>
      </dgm:prSet>
      <dgm:spPr/>
    </dgm:pt>
    <dgm:pt modelId="{A22AE6FA-012A-4FE2-B872-3F5BF126CA65}" type="pres">
      <dgm:prSet presAssocID="{E121A157-12E7-49C6-A38A-BFE4354686BA}" presName="sibTrans" presStyleCnt="0"/>
      <dgm:spPr/>
    </dgm:pt>
    <dgm:pt modelId="{639DEC14-3E11-45DE-9A7F-B4D981F112C2}" type="pres">
      <dgm:prSet presAssocID="{7E884B53-A8C4-4FA7-A90F-5104D1F5FD0F}" presName="node" presStyleLbl="node1" presStyleIdx="3" presStyleCnt="5">
        <dgm:presLayoutVars>
          <dgm:bulletEnabled val="1"/>
        </dgm:presLayoutVars>
      </dgm:prSet>
      <dgm:spPr/>
    </dgm:pt>
    <dgm:pt modelId="{87943BF6-17DD-4EAC-80EA-DDF10B7CBF1E}" type="pres">
      <dgm:prSet presAssocID="{D3C3C3C4-A319-4CB4-BDAE-89A813896E23}" presName="sibTrans" presStyleCnt="0"/>
      <dgm:spPr/>
    </dgm:pt>
    <dgm:pt modelId="{C4961C7A-7E07-4FDE-83F1-7404699AB48E}" type="pres">
      <dgm:prSet presAssocID="{CBF0AB7C-CFCB-4BB1-B089-FFC87E6B6A99}" presName="node" presStyleLbl="node1" presStyleIdx="4" presStyleCnt="5">
        <dgm:presLayoutVars>
          <dgm:bulletEnabled val="1"/>
        </dgm:presLayoutVars>
      </dgm:prSet>
      <dgm:spPr/>
    </dgm:pt>
  </dgm:ptLst>
  <dgm:cxnLst>
    <dgm:cxn modelId="{B89EFB0C-3518-4DEA-82F7-C86D2EB9BC01}" type="presOf" srcId="{7AB38CBA-65A9-43E2-BBFC-6C01566CD50D}" destId="{95FFE8A0-757A-4993-842B-8042AD009A4C}" srcOrd="0" destOrd="0" presId="urn:microsoft.com/office/officeart/2005/8/layout/default"/>
    <dgm:cxn modelId="{C420BB35-ED5C-4292-8741-941D82AAA98F}" srcId="{9DFA2301-EE89-4B0F-A99B-BAE1F7E19390}" destId="{C51C3893-C756-4389-AD4C-25BA55FD6844}" srcOrd="1" destOrd="0" parTransId="{C16796A8-918E-459A-803D-E48D290B9CD9}" sibTransId="{B8C9C94A-6ACE-427A-82D7-E91479448E0D}"/>
    <dgm:cxn modelId="{1C1F7240-3058-4E94-81B1-EE1FB691D081}" srcId="{9DFA2301-EE89-4B0F-A99B-BAE1F7E19390}" destId="{7E884B53-A8C4-4FA7-A90F-5104D1F5FD0F}" srcOrd="3" destOrd="0" parTransId="{9D85EFC9-FF51-49ED-BC7D-BD2AEF013217}" sibTransId="{D3C3C3C4-A319-4CB4-BDAE-89A813896E23}"/>
    <dgm:cxn modelId="{87AC7045-AA8B-4772-A919-648C067AD339}" type="presOf" srcId="{2E2F356B-CE4C-4129-A418-DED7FCDB5CAA}" destId="{E6CEEB0A-8957-4682-A816-0E5646726F2F}" srcOrd="0" destOrd="0" presId="urn:microsoft.com/office/officeart/2005/8/layout/default"/>
    <dgm:cxn modelId="{5A1FEA4B-72A1-47C3-9D81-BA4A0E2F0AB7}" srcId="{9DFA2301-EE89-4B0F-A99B-BAE1F7E19390}" destId="{7AB38CBA-65A9-43E2-BBFC-6C01566CD50D}" srcOrd="2" destOrd="0" parTransId="{CD7BFDE0-778F-447C-8F00-B7CECEEF31F3}" sibTransId="{E121A157-12E7-49C6-A38A-BFE4354686BA}"/>
    <dgm:cxn modelId="{B58AF06D-58E1-450D-A4EA-1EFC4A7AD344}" type="presOf" srcId="{C51C3893-C756-4389-AD4C-25BA55FD6844}" destId="{01C615FB-BB6B-44BC-BE10-08C90F4F9345}" srcOrd="0" destOrd="0" presId="urn:microsoft.com/office/officeart/2005/8/layout/default"/>
    <dgm:cxn modelId="{1616964F-D2CB-427D-A72C-26BF245FC26D}" srcId="{9DFA2301-EE89-4B0F-A99B-BAE1F7E19390}" destId="{2E2F356B-CE4C-4129-A418-DED7FCDB5CAA}" srcOrd="0" destOrd="0" parTransId="{1D22D13C-7384-4969-BCD1-04A51BBEEE22}" sibTransId="{9EBC29D1-B515-44B8-BC6D-D098A8B230E0}"/>
    <dgm:cxn modelId="{CF047E58-0873-4BC7-BA5A-BEC5C66FE2AE}" type="presOf" srcId="{7E884B53-A8C4-4FA7-A90F-5104D1F5FD0F}" destId="{639DEC14-3E11-45DE-9A7F-B4D981F112C2}" srcOrd="0" destOrd="0" presId="urn:microsoft.com/office/officeart/2005/8/layout/default"/>
    <dgm:cxn modelId="{EE0649A3-C92C-4CEA-A829-6269C0494546}" srcId="{9DFA2301-EE89-4B0F-A99B-BAE1F7E19390}" destId="{CBF0AB7C-CFCB-4BB1-B089-FFC87E6B6A99}" srcOrd="4" destOrd="0" parTransId="{5823887F-CD77-4243-BDF0-48F61833B4EF}" sibTransId="{D7121C0D-382E-4AE6-9A9C-C58AB4B1A4C3}"/>
    <dgm:cxn modelId="{D75613B6-20BE-4079-8FE3-9C9A5DFA3D4B}" type="presOf" srcId="{9DFA2301-EE89-4B0F-A99B-BAE1F7E19390}" destId="{81AA7C32-3A89-4F3B-AF22-706071BBB2B9}" srcOrd="0" destOrd="0" presId="urn:microsoft.com/office/officeart/2005/8/layout/default"/>
    <dgm:cxn modelId="{E5DC2ACD-701B-4F45-A699-96E62D0066F1}" type="presOf" srcId="{CBF0AB7C-CFCB-4BB1-B089-FFC87E6B6A99}" destId="{C4961C7A-7E07-4FDE-83F1-7404699AB48E}" srcOrd="0" destOrd="0" presId="urn:microsoft.com/office/officeart/2005/8/layout/default"/>
    <dgm:cxn modelId="{CFA27738-AE38-4860-A46A-782CAC800D6B}" type="presParOf" srcId="{81AA7C32-3A89-4F3B-AF22-706071BBB2B9}" destId="{E6CEEB0A-8957-4682-A816-0E5646726F2F}" srcOrd="0" destOrd="0" presId="urn:microsoft.com/office/officeart/2005/8/layout/default"/>
    <dgm:cxn modelId="{D0E20ECB-A8CD-4696-9240-7CF16BAC0500}" type="presParOf" srcId="{81AA7C32-3A89-4F3B-AF22-706071BBB2B9}" destId="{DEE51627-724E-4C17-B7D2-5A57855C3711}" srcOrd="1" destOrd="0" presId="urn:microsoft.com/office/officeart/2005/8/layout/default"/>
    <dgm:cxn modelId="{BBFB26B9-F2A9-44D4-A2A7-0A0439902B10}" type="presParOf" srcId="{81AA7C32-3A89-4F3B-AF22-706071BBB2B9}" destId="{01C615FB-BB6B-44BC-BE10-08C90F4F9345}" srcOrd="2" destOrd="0" presId="urn:microsoft.com/office/officeart/2005/8/layout/default"/>
    <dgm:cxn modelId="{7C86BD44-D27C-43BF-8FFA-5B0113BEFB7E}" type="presParOf" srcId="{81AA7C32-3A89-4F3B-AF22-706071BBB2B9}" destId="{3B50B919-29F8-459A-9D54-8FEF9AD4F867}" srcOrd="3" destOrd="0" presId="urn:microsoft.com/office/officeart/2005/8/layout/default"/>
    <dgm:cxn modelId="{C67F8E61-BE0C-436B-AA37-84D4FB522CCE}" type="presParOf" srcId="{81AA7C32-3A89-4F3B-AF22-706071BBB2B9}" destId="{95FFE8A0-757A-4993-842B-8042AD009A4C}" srcOrd="4" destOrd="0" presId="urn:microsoft.com/office/officeart/2005/8/layout/default"/>
    <dgm:cxn modelId="{4F40C4BB-CF33-405C-B939-72FFF50FEF95}" type="presParOf" srcId="{81AA7C32-3A89-4F3B-AF22-706071BBB2B9}" destId="{A22AE6FA-012A-4FE2-B872-3F5BF126CA65}" srcOrd="5" destOrd="0" presId="urn:microsoft.com/office/officeart/2005/8/layout/default"/>
    <dgm:cxn modelId="{D9C74508-6AEB-44A0-A043-C981E212308C}" type="presParOf" srcId="{81AA7C32-3A89-4F3B-AF22-706071BBB2B9}" destId="{639DEC14-3E11-45DE-9A7F-B4D981F112C2}" srcOrd="6" destOrd="0" presId="urn:microsoft.com/office/officeart/2005/8/layout/default"/>
    <dgm:cxn modelId="{FAF1D8DE-D687-43EC-8BDF-F6344A5BC600}" type="presParOf" srcId="{81AA7C32-3A89-4F3B-AF22-706071BBB2B9}" destId="{87943BF6-17DD-4EAC-80EA-DDF10B7CBF1E}" srcOrd="7" destOrd="0" presId="urn:microsoft.com/office/officeart/2005/8/layout/default"/>
    <dgm:cxn modelId="{FD84FDFC-3E23-4BD3-9EE4-C90943B71D45}" type="presParOf" srcId="{81AA7C32-3A89-4F3B-AF22-706071BBB2B9}" destId="{C4961C7A-7E07-4FDE-83F1-7404699AB48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95E7BB-62FF-4BA9-BA63-8B1D0AC38773}" type="doc">
      <dgm:prSet loTypeId="urn:microsoft.com/office/officeart/2005/8/layout/hierarchy1" loCatId="hierarchy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E169B8DA-5C39-4996-91CA-4712219CBAA8}">
      <dgm:prSet/>
      <dgm:spPr/>
      <dgm:t>
        <a:bodyPr/>
        <a:lstStyle/>
        <a:p>
          <a:r>
            <a:rPr lang="en-GB" b="1" dirty="0"/>
            <a:t>SNPs DATA</a:t>
          </a:r>
          <a:r>
            <a:rPr lang="en-GB" dirty="0"/>
            <a:t>. List of SNPs associated with a </a:t>
          </a:r>
          <a:r>
            <a:rPr lang="en-GB" b="0" i="0" dirty="0"/>
            <a:t>Trait</a:t>
          </a:r>
          <a:r>
            <a:rPr lang="en-GB" dirty="0"/>
            <a:t> of interest </a:t>
          </a:r>
          <a:endParaRPr lang="en-US" dirty="0"/>
        </a:p>
      </dgm:t>
    </dgm:pt>
    <dgm:pt modelId="{45A55A17-DFEC-49CD-A380-83569E9C8449}" type="parTrans" cxnId="{30E1020E-87B0-4772-BA02-AC06AB0F180D}">
      <dgm:prSet/>
      <dgm:spPr/>
      <dgm:t>
        <a:bodyPr/>
        <a:lstStyle/>
        <a:p>
          <a:endParaRPr lang="en-US"/>
        </a:p>
      </dgm:t>
    </dgm:pt>
    <dgm:pt modelId="{F18D05C1-8308-4626-93F8-2D5D032661A1}" type="sibTrans" cxnId="{30E1020E-87B0-4772-BA02-AC06AB0F180D}">
      <dgm:prSet/>
      <dgm:spPr/>
      <dgm:t>
        <a:bodyPr/>
        <a:lstStyle/>
        <a:p>
          <a:endParaRPr lang="en-US"/>
        </a:p>
      </dgm:t>
    </dgm:pt>
    <dgm:pt modelId="{956621EE-BDF9-446A-A9C4-D43EBB5AF83F}" type="pres">
      <dgm:prSet presAssocID="{D195E7BB-62FF-4BA9-BA63-8B1D0AC387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4A90ED-5C28-4CF1-9546-01FA27CE2ADA}" type="pres">
      <dgm:prSet presAssocID="{E169B8DA-5C39-4996-91CA-4712219CBAA8}" presName="hierRoot1" presStyleCnt="0"/>
      <dgm:spPr/>
    </dgm:pt>
    <dgm:pt modelId="{0C87FC22-EB6E-47A2-A388-17184028B6DB}" type="pres">
      <dgm:prSet presAssocID="{E169B8DA-5C39-4996-91CA-4712219CBAA8}" presName="composite" presStyleCnt="0"/>
      <dgm:spPr/>
    </dgm:pt>
    <dgm:pt modelId="{4574A627-1399-4404-862D-92BF8501DB29}" type="pres">
      <dgm:prSet presAssocID="{E169B8DA-5C39-4996-91CA-4712219CBAA8}" presName="background" presStyleLbl="node0" presStyleIdx="0" presStyleCnt="1"/>
      <dgm:spPr/>
    </dgm:pt>
    <dgm:pt modelId="{14F8BA40-6ECF-4FBD-B5E9-731E370CC599}" type="pres">
      <dgm:prSet presAssocID="{E169B8DA-5C39-4996-91CA-4712219CBAA8}" presName="text" presStyleLbl="fgAcc0" presStyleIdx="0" presStyleCnt="1">
        <dgm:presLayoutVars>
          <dgm:chPref val="3"/>
        </dgm:presLayoutVars>
      </dgm:prSet>
      <dgm:spPr/>
    </dgm:pt>
    <dgm:pt modelId="{4A92E49B-E555-4BFE-81E4-35531B10A7D5}" type="pres">
      <dgm:prSet presAssocID="{E169B8DA-5C39-4996-91CA-4712219CBAA8}" presName="hierChild2" presStyleCnt="0"/>
      <dgm:spPr/>
    </dgm:pt>
  </dgm:ptLst>
  <dgm:cxnLst>
    <dgm:cxn modelId="{30E1020E-87B0-4772-BA02-AC06AB0F180D}" srcId="{D195E7BB-62FF-4BA9-BA63-8B1D0AC38773}" destId="{E169B8DA-5C39-4996-91CA-4712219CBAA8}" srcOrd="0" destOrd="0" parTransId="{45A55A17-DFEC-49CD-A380-83569E9C8449}" sibTransId="{F18D05C1-8308-4626-93F8-2D5D032661A1}"/>
    <dgm:cxn modelId="{CD6F867B-F693-4DF4-840C-8DDE763AF425}" type="presOf" srcId="{E169B8DA-5C39-4996-91CA-4712219CBAA8}" destId="{14F8BA40-6ECF-4FBD-B5E9-731E370CC599}" srcOrd="0" destOrd="0" presId="urn:microsoft.com/office/officeart/2005/8/layout/hierarchy1"/>
    <dgm:cxn modelId="{BC30C2D7-C79F-4627-A55C-3ADEDECE23F2}" type="presOf" srcId="{D195E7BB-62FF-4BA9-BA63-8B1D0AC38773}" destId="{956621EE-BDF9-446A-A9C4-D43EBB5AF83F}" srcOrd="0" destOrd="0" presId="urn:microsoft.com/office/officeart/2005/8/layout/hierarchy1"/>
    <dgm:cxn modelId="{47FEB7E9-E3A7-496A-A379-1B28B10E33F5}" type="presParOf" srcId="{956621EE-BDF9-446A-A9C4-D43EBB5AF83F}" destId="{944A90ED-5C28-4CF1-9546-01FA27CE2ADA}" srcOrd="0" destOrd="0" presId="urn:microsoft.com/office/officeart/2005/8/layout/hierarchy1"/>
    <dgm:cxn modelId="{28F563A1-6E69-4DFF-91AC-4F63EF1787DF}" type="presParOf" srcId="{944A90ED-5C28-4CF1-9546-01FA27CE2ADA}" destId="{0C87FC22-EB6E-47A2-A388-17184028B6DB}" srcOrd="0" destOrd="0" presId="urn:microsoft.com/office/officeart/2005/8/layout/hierarchy1"/>
    <dgm:cxn modelId="{53586705-3CEE-44F9-821D-58102B1C4522}" type="presParOf" srcId="{0C87FC22-EB6E-47A2-A388-17184028B6DB}" destId="{4574A627-1399-4404-862D-92BF8501DB29}" srcOrd="0" destOrd="0" presId="urn:microsoft.com/office/officeart/2005/8/layout/hierarchy1"/>
    <dgm:cxn modelId="{0258EB88-C6A7-4E18-9839-25C28E2FC838}" type="presParOf" srcId="{0C87FC22-EB6E-47A2-A388-17184028B6DB}" destId="{14F8BA40-6ECF-4FBD-B5E9-731E370CC599}" srcOrd="1" destOrd="0" presId="urn:microsoft.com/office/officeart/2005/8/layout/hierarchy1"/>
    <dgm:cxn modelId="{7DFDCB4B-10A8-4BE2-AF8A-5DB4794BA988}" type="presParOf" srcId="{944A90ED-5C28-4CF1-9546-01FA27CE2ADA}" destId="{4A92E49B-E555-4BFE-81E4-35531B10A7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95E7BB-62FF-4BA9-BA63-8B1D0AC38773}" type="doc">
      <dgm:prSet loTypeId="urn:microsoft.com/office/officeart/2005/8/layout/hierarchy1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827900E-63A0-42FF-9646-A57C7F0FC606}">
      <dgm:prSet/>
      <dgm:spPr/>
      <dgm:t>
        <a:bodyPr/>
        <a:lstStyle/>
        <a:p>
          <a:endParaRPr lang="en-US" dirty="0"/>
        </a:p>
      </dgm:t>
    </dgm:pt>
    <dgm:pt modelId="{1F4CAD81-9274-4AB3-BA21-873D454A29D2}" type="sibTrans" cxnId="{04BB0B1C-7712-4760-871B-F82039CDC067}">
      <dgm:prSet/>
      <dgm:spPr/>
      <dgm:t>
        <a:bodyPr/>
        <a:lstStyle/>
        <a:p>
          <a:endParaRPr lang="en-US"/>
        </a:p>
      </dgm:t>
    </dgm:pt>
    <dgm:pt modelId="{F5D5292C-1E8E-422B-B72C-5F4BA6FC0CC5}" type="parTrans" cxnId="{04BB0B1C-7712-4760-871B-F82039CDC067}">
      <dgm:prSet/>
      <dgm:spPr/>
      <dgm:t>
        <a:bodyPr/>
        <a:lstStyle/>
        <a:p>
          <a:endParaRPr lang="en-US"/>
        </a:p>
      </dgm:t>
    </dgm:pt>
    <dgm:pt modelId="{CD79341E-26B1-4171-8DEB-438FFC3F1C19}" type="pres">
      <dgm:prSet presAssocID="{D195E7BB-62FF-4BA9-BA63-8B1D0AC387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3A9BAE9-2B6E-4AA1-8E14-8F877D13A575}" type="pres">
      <dgm:prSet presAssocID="{4827900E-63A0-42FF-9646-A57C7F0FC606}" presName="hierRoot1" presStyleCnt="0"/>
      <dgm:spPr/>
    </dgm:pt>
    <dgm:pt modelId="{FF640A2F-857C-4B3C-9F28-642A9F4ED000}" type="pres">
      <dgm:prSet presAssocID="{4827900E-63A0-42FF-9646-A57C7F0FC606}" presName="composite" presStyleCnt="0"/>
      <dgm:spPr/>
    </dgm:pt>
    <dgm:pt modelId="{FC189884-79E5-4062-9FD8-E4F35964211C}" type="pres">
      <dgm:prSet presAssocID="{4827900E-63A0-42FF-9646-A57C7F0FC606}" presName="background" presStyleLbl="node0" presStyleIdx="0" presStyleCnt="1"/>
      <dgm:spPr/>
    </dgm:pt>
    <dgm:pt modelId="{E3D17B2A-60CF-4B40-A044-B342C3474061}" type="pres">
      <dgm:prSet presAssocID="{4827900E-63A0-42FF-9646-A57C7F0FC606}" presName="text" presStyleLbl="fgAcc0" presStyleIdx="0" presStyleCnt="1" custLinFactNeighborX="-5556" custLinFactNeighborY="-1422">
        <dgm:presLayoutVars>
          <dgm:chPref val="3"/>
        </dgm:presLayoutVars>
      </dgm:prSet>
      <dgm:spPr/>
    </dgm:pt>
    <dgm:pt modelId="{CB0890D7-6269-4820-9B44-74F928A0F4A6}" type="pres">
      <dgm:prSet presAssocID="{4827900E-63A0-42FF-9646-A57C7F0FC606}" presName="hierChild2" presStyleCnt="0"/>
      <dgm:spPr/>
    </dgm:pt>
  </dgm:ptLst>
  <dgm:cxnLst>
    <dgm:cxn modelId="{04BB0B1C-7712-4760-871B-F82039CDC067}" srcId="{D195E7BB-62FF-4BA9-BA63-8B1D0AC38773}" destId="{4827900E-63A0-42FF-9646-A57C7F0FC606}" srcOrd="0" destOrd="0" parTransId="{F5D5292C-1E8E-422B-B72C-5F4BA6FC0CC5}" sibTransId="{1F4CAD81-9274-4AB3-BA21-873D454A29D2}"/>
    <dgm:cxn modelId="{E43FDE47-D82E-455B-96E9-35F4DB7F50B5}" type="presOf" srcId="{D195E7BB-62FF-4BA9-BA63-8B1D0AC38773}" destId="{CD79341E-26B1-4171-8DEB-438FFC3F1C19}" srcOrd="0" destOrd="0" presId="urn:microsoft.com/office/officeart/2005/8/layout/hierarchy1"/>
    <dgm:cxn modelId="{1EA10EC0-0F36-4D1D-81A2-46564F86ACD6}" type="presOf" srcId="{4827900E-63A0-42FF-9646-A57C7F0FC606}" destId="{E3D17B2A-60CF-4B40-A044-B342C3474061}" srcOrd="0" destOrd="0" presId="urn:microsoft.com/office/officeart/2005/8/layout/hierarchy1"/>
    <dgm:cxn modelId="{6544F6C5-ACF0-4425-B8BA-73A3D0917C6B}" type="presParOf" srcId="{CD79341E-26B1-4171-8DEB-438FFC3F1C19}" destId="{D3A9BAE9-2B6E-4AA1-8E14-8F877D13A575}" srcOrd="0" destOrd="0" presId="urn:microsoft.com/office/officeart/2005/8/layout/hierarchy1"/>
    <dgm:cxn modelId="{FF008DD7-47D5-4D30-9011-5224FBB3C59C}" type="presParOf" srcId="{D3A9BAE9-2B6E-4AA1-8E14-8F877D13A575}" destId="{FF640A2F-857C-4B3C-9F28-642A9F4ED000}" srcOrd="0" destOrd="0" presId="urn:microsoft.com/office/officeart/2005/8/layout/hierarchy1"/>
    <dgm:cxn modelId="{92F01CB2-1363-4C36-96EE-4DEC5BF8B83E}" type="presParOf" srcId="{FF640A2F-857C-4B3C-9F28-642A9F4ED000}" destId="{FC189884-79E5-4062-9FD8-E4F35964211C}" srcOrd="0" destOrd="0" presId="urn:microsoft.com/office/officeart/2005/8/layout/hierarchy1"/>
    <dgm:cxn modelId="{AD908734-648A-477F-BA55-26A7FFDDA86C}" type="presParOf" srcId="{FF640A2F-857C-4B3C-9F28-642A9F4ED000}" destId="{E3D17B2A-60CF-4B40-A044-B342C3474061}" srcOrd="1" destOrd="0" presId="urn:microsoft.com/office/officeart/2005/8/layout/hierarchy1"/>
    <dgm:cxn modelId="{11CD16BF-E674-48B3-8FF9-263C73BFA7B4}" type="presParOf" srcId="{D3A9BAE9-2B6E-4AA1-8E14-8F877D13A575}" destId="{CB0890D7-6269-4820-9B44-74F928A0F4A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0FD27-AC43-405F-BBF7-72C65BE63625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6728C-FDA9-4276-A43A-9871E63A8043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 single numerical metric that estimates an individual’s genetic risk for a particular disease or trait (phenotype).</a:t>
          </a:r>
          <a:endParaRPr lang="en-US" sz="2100" kern="1200"/>
        </a:p>
      </dsp:txBody>
      <dsp:txXfrm>
        <a:off x="696297" y="538547"/>
        <a:ext cx="4171627" cy="2590157"/>
      </dsp:txXfrm>
    </dsp:sp>
    <dsp:sp modelId="{5E296B68-BCC3-465C-9E05-A028F9180941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B2E51-1869-4278-90BC-D3C0C3BB0B55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This score is calculated by summing the contributions of risk alleles carried by the individual, each weighted by its respective effect size as determined by a Genome-Wide Association Study (GWAS) specific to the phenotype in question.</a:t>
          </a:r>
          <a:endParaRPr lang="en-US" sz="2100" kern="120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CEEB0A-8957-4682-A816-0E5646726F2F}">
      <dsp:nvSpPr>
        <dsp:cNvPr id="0" name=""/>
        <dsp:cNvSpPr/>
      </dsp:nvSpPr>
      <dsp:spPr>
        <a:xfrm>
          <a:off x="930572" y="3032"/>
          <a:ext cx="2833338" cy="17000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Disease risk prediction</a:t>
          </a:r>
          <a:endParaRPr lang="en-US" sz="3100" kern="1200"/>
        </a:p>
      </dsp:txBody>
      <dsp:txXfrm>
        <a:off x="930572" y="3032"/>
        <a:ext cx="2833338" cy="1700003"/>
      </dsp:txXfrm>
    </dsp:sp>
    <dsp:sp modelId="{01C615FB-BB6B-44BC-BE10-08C90F4F9345}">
      <dsp:nvSpPr>
        <dsp:cNvPr id="0" name=""/>
        <dsp:cNvSpPr/>
      </dsp:nvSpPr>
      <dsp:spPr>
        <a:xfrm>
          <a:off x="4047245" y="3032"/>
          <a:ext cx="2833338" cy="1700003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Screening and prevention.</a:t>
          </a:r>
          <a:endParaRPr lang="en-US" sz="3100" kern="1200"/>
        </a:p>
      </dsp:txBody>
      <dsp:txXfrm>
        <a:off x="4047245" y="3032"/>
        <a:ext cx="2833338" cy="1700003"/>
      </dsp:txXfrm>
    </dsp:sp>
    <dsp:sp modelId="{95FFE8A0-757A-4993-842B-8042AD009A4C}">
      <dsp:nvSpPr>
        <dsp:cNvPr id="0" name=""/>
        <dsp:cNvSpPr/>
      </dsp:nvSpPr>
      <dsp:spPr>
        <a:xfrm>
          <a:off x="7163917" y="3032"/>
          <a:ext cx="2833338" cy="1700003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Personalized treatment</a:t>
          </a:r>
          <a:endParaRPr lang="en-US" sz="3100" kern="1200"/>
        </a:p>
      </dsp:txBody>
      <dsp:txXfrm>
        <a:off x="7163917" y="3032"/>
        <a:ext cx="2833338" cy="1700003"/>
      </dsp:txXfrm>
    </dsp:sp>
    <dsp:sp modelId="{639DEC14-3E11-45DE-9A7F-B4D981F112C2}">
      <dsp:nvSpPr>
        <dsp:cNvPr id="0" name=""/>
        <dsp:cNvSpPr/>
      </dsp:nvSpPr>
      <dsp:spPr>
        <a:xfrm>
          <a:off x="2488909" y="1986369"/>
          <a:ext cx="2833338" cy="1700003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Epidemiological Studies</a:t>
          </a:r>
          <a:endParaRPr lang="en-US" sz="3100" kern="1200"/>
        </a:p>
      </dsp:txBody>
      <dsp:txXfrm>
        <a:off x="2488909" y="1986369"/>
        <a:ext cx="2833338" cy="1700003"/>
      </dsp:txXfrm>
    </dsp:sp>
    <dsp:sp modelId="{C4961C7A-7E07-4FDE-83F1-7404699AB48E}">
      <dsp:nvSpPr>
        <dsp:cNvPr id="0" name=""/>
        <dsp:cNvSpPr/>
      </dsp:nvSpPr>
      <dsp:spPr>
        <a:xfrm>
          <a:off x="5605581" y="1986369"/>
          <a:ext cx="2833338" cy="170000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Drug Development</a:t>
          </a:r>
          <a:endParaRPr lang="en-US" sz="3100" kern="1200"/>
        </a:p>
      </dsp:txBody>
      <dsp:txXfrm>
        <a:off x="5605581" y="1986369"/>
        <a:ext cx="2833338" cy="17000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4A627-1399-4404-862D-92BF8501DB29}">
      <dsp:nvSpPr>
        <dsp:cNvPr id="0" name=""/>
        <dsp:cNvSpPr/>
      </dsp:nvSpPr>
      <dsp:spPr>
        <a:xfrm>
          <a:off x="834890" y="768"/>
          <a:ext cx="4702316" cy="29859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F8BA40-6ECF-4FBD-B5E9-731E370CC599}">
      <dsp:nvSpPr>
        <dsp:cNvPr id="0" name=""/>
        <dsp:cNvSpPr/>
      </dsp:nvSpPr>
      <dsp:spPr>
        <a:xfrm>
          <a:off x="1357369" y="497124"/>
          <a:ext cx="4702316" cy="29859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1" kern="1200" dirty="0"/>
            <a:t>SNPs DATA</a:t>
          </a:r>
          <a:r>
            <a:rPr lang="en-GB" sz="4400" kern="1200" dirty="0"/>
            <a:t>. List of SNPs associated with a </a:t>
          </a:r>
          <a:r>
            <a:rPr lang="en-GB" sz="4400" b="0" i="0" kern="1200" dirty="0"/>
            <a:t>Trait</a:t>
          </a:r>
          <a:r>
            <a:rPr lang="en-GB" sz="4400" kern="1200" dirty="0"/>
            <a:t> of interest </a:t>
          </a:r>
          <a:endParaRPr lang="en-US" sz="4400" kern="1200" dirty="0"/>
        </a:p>
      </dsp:txBody>
      <dsp:txXfrm>
        <a:off x="1444825" y="584580"/>
        <a:ext cx="4527404" cy="28110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89884-79E5-4062-9FD8-E4F35964211C}">
      <dsp:nvSpPr>
        <dsp:cNvPr id="0" name=""/>
        <dsp:cNvSpPr/>
      </dsp:nvSpPr>
      <dsp:spPr>
        <a:xfrm>
          <a:off x="-240963" y="128879"/>
          <a:ext cx="4336999" cy="27539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3D17B2A-60CF-4B40-A044-B342C3474061}">
      <dsp:nvSpPr>
        <dsp:cNvPr id="0" name=""/>
        <dsp:cNvSpPr/>
      </dsp:nvSpPr>
      <dsp:spPr>
        <a:xfrm>
          <a:off x="240925" y="586674"/>
          <a:ext cx="4336999" cy="275399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21587" y="667336"/>
        <a:ext cx="4175675" cy="2592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5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3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8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6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6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3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6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2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9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gscatalog.org/docs/ancestry/?utm_source=chatgpt.com" TargetMode="External"/><Relationship Id="rId2" Type="http://schemas.openxmlformats.org/officeDocument/2006/relationships/hyperlink" Target="https://pmc.ncbi.nlm.nih.gov/articles/PMC8609771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pii/S0002929721004201?utm_source=chatgpt.com" TargetMode="External"/><Relationship Id="rId4" Type="http://schemas.openxmlformats.org/officeDocument/2006/relationships/hyperlink" Target="https://pmc.ncbi.nlm.nih.gov/articles/PMC11160819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610BB-4426-BF2F-94F8-7F143D39B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GB" sz="4000" b="1">
                <a:solidFill>
                  <a:schemeClr val="tx2"/>
                </a:solidFill>
              </a:rPr>
              <a:t>Polygenic Risk Score (PRS)</a:t>
            </a:r>
            <a:endParaRPr lang="en-GB" sz="40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64D5-C05F-CA96-F131-BC3217B0E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GB" sz="2000">
                <a:solidFill>
                  <a:schemeClr val="tx2"/>
                </a:solidFill>
              </a:rPr>
              <a:t>step-by-step guide to BIGG SPOR project</a:t>
            </a:r>
          </a:p>
        </p:txBody>
      </p:sp>
      <p:pic>
        <p:nvPicPr>
          <p:cNvPr id="7" name="Graphic 6" descr="Water">
            <a:extLst>
              <a:ext uri="{FF2B5EF4-FFF2-40B4-BE49-F238E27FC236}">
                <a16:creationId xmlns:a16="http://schemas.microsoft.com/office/drawing/2014/main" id="{DB534CA4-7A9E-A485-4AA8-23E2B0201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287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1BAF1-2A15-FF46-A4B3-D6D148434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 b="1"/>
              <a:t>What’s a Polygenic Risk Score?</a:t>
            </a:r>
            <a:endParaRPr lang="en-GB" sz="480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B9955D-0492-AFA2-B6B2-98D4DB86102C}"/>
              </a:ext>
            </a:extLst>
          </p:cNvPr>
          <p:cNvSpPr txBox="1"/>
          <p:nvPr/>
        </p:nvSpPr>
        <p:spPr>
          <a:xfrm>
            <a:off x="3047238" y="296733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br>
              <a:rPr lang="en-GB" dirty="0"/>
            </a:br>
            <a:endParaRPr lang="en-GB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EAE3F6C-BCFF-3BDC-DDE9-578B78837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79389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400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E0D4FF-6975-D396-D91C-AD0F006EE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16" r="7259" b="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61A5A-A503-A6D5-0AB4-30379F79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b="1"/>
              <a:t>Effect size - </a:t>
            </a:r>
            <a:r>
              <a:rPr lang="el-GR" b="1"/>
              <a:t>β</a:t>
            </a:r>
            <a:r>
              <a:rPr lang="en-GB" b="1"/>
              <a:t>i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99CAA-2BDB-3259-0D9C-4F4E3DEDCF2E}"/>
              </a:ext>
            </a:extLst>
          </p:cNvPr>
          <p:cNvSpPr txBox="1"/>
          <p:nvPr/>
        </p:nvSpPr>
        <p:spPr>
          <a:xfrm>
            <a:off x="4062046" y="2262199"/>
            <a:ext cx="3647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GB" sz="2400" dirty="0"/>
              <a:t>There exist two primary approaches: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9D40B-06A2-D0C9-011E-C3C9897D1CA5}"/>
              </a:ext>
            </a:extLst>
          </p:cNvPr>
          <p:cNvSpPr txBox="1"/>
          <p:nvPr/>
        </p:nvSpPr>
        <p:spPr>
          <a:xfrm>
            <a:off x="680516" y="3707405"/>
            <a:ext cx="40683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GB" b="1" dirty="0"/>
              <a:t>Unweighted PRS</a:t>
            </a:r>
            <a:r>
              <a:rPr lang="en-GB" dirty="0"/>
              <a:t>, where each genetic variant is assigned a fixed weight of 1 (β</a:t>
            </a:r>
            <a:r>
              <a:rPr lang="en-GB" dirty="0" err="1"/>
              <a:t>i</a:t>
            </a:r>
            <a:r>
              <a:rPr lang="en-GB" dirty="0"/>
              <a:t> = 1).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47D44-6F34-913A-B013-A53A518813C5}"/>
              </a:ext>
            </a:extLst>
          </p:cNvPr>
          <p:cNvSpPr txBox="1"/>
          <p:nvPr/>
        </p:nvSpPr>
        <p:spPr>
          <a:xfrm>
            <a:off x="6093656" y="3707405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GB" b="1" dirty="0"/>
              <a:t>Weighted PRS</a:t>
            </a:r>
            <a:r>
              <a:rPr lang="en-GB" dirty="0"/>
              <a:t>, which employs the actual effect sizes, typically represented as betas (β</a:t>
            </a:r>
            <a:r>
              <a:rPr lang="en-GB" dirty="0" err="1"/>
              <a:t>i</a:t>
            </a:r>
            <a:r>
              <a:rPr lang="en-GB" dirty="0"/>
              <a:t>) or Odds Ratios (OR), derived from GWAS specific to the phenotype in question.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98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E6486-4BA4-5303-17DD-9A04886A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PRS applications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A3B93C8-8638-32B2-6E79-7BB02F2097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754881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303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20F54-C846-766C-3949-E9862ADD8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 b="1"/>
              <a:t>Required Data (example)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99D49E-796D-9D1B-E398-C3D906E51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940" y="329183"/>
            <a:ext cx="3772015" cy="342996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6DC55A-353D-6A1A-B9F5-418FB252C4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2338"/>
          <a:stretch>
            <a:fillRect/>
          </a:stretch>
        </p:blipFill>
        <p:spPr>
          <a:xfrm>
            <a:off x="5434742" y="4468254"/>
            <a:ext cx="6754210" cy="1607934"/>
          </a:xfrm>
          <a:prstGeom prst="rect">
            <a:avLst/>
          </a:prstGeom>
        </p:spPr>
      </p:pic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A2ABF6E9-6A5A-C519-95B7-755955B67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169900"/>
              </p:ext>
            </p:extLst>
          </p:nvPr>
        </p:nvGraphicFramePr>
        <p:xfrm>
          <a:off x="-739328" y="2592324"/>
          <a:ext cx="6894576" cy="3483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58799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D2812-9CAC-E576-F739-DD712D24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4200" b="1"/>
              <a:t>Harmonise each model</a:t>
            </a:r>
            <a:r>
              <a:rPr lang="en-GB" sz="4200"/>
              <a:t> to one genome build (e.g., hg19 or hg38):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AAB5-8DE2-533E-7C28-A24A5D81E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GB" sz="2000"/>
              <a:t>keep SNP-only, biallelic-only</a:t>
            </a:r>
          </a:p>
          <a:p>
            <a:r>
              <a:rPr lang="en-GB" sz="2000"/>
              <a:t>enforce </a:t>
            </a:r>
            <a:r>
              <a:rPr lang="en-GB" sz="2000" b="1"/>
              <a:t>ALT = effect allele (A1)</a:t>
            </a:r>
            <a:endParaRPr lang="en-GB" sz="2000"/>
          </a:p>
          <a:p>
            <a:r>
              <a:rPr lang="en-GB" sz="2000"/>
              <a:t>flip beta sign when needed</a:t>
            </a:r>
          </a:p>
          <a:p>
            <a:r>
              <a:rPr lang="en-GB" sz="2000"/>
              <a:t>output per model: varid (chr:pos) , ref , alt , A1 , beta</a:t>
            </a:r>
          </a:p>
          <a:p>
            <a:r>
              <a:rPr lang="en-GB" sz="2000"/>
              <a:t>stack rows and add model column (PLR / LDpred2)</a:t>
            </a:r>
          </a:p>
          <a:p>
            <a:r>
              <a:rPr lang="en-GB" sz="2000"/>
              <a:t>Choose the ancestry group </a:t>
            </a:r>
            <a:r>
              <a:rPr lang="en-GB" sz="2000" b="1"/>
              <a:t>most similar to the Turkish population</a:t>
            </a:r>
            <a:r>
              <a:rPr lang="en-GB" sz="2000"/>
              <a:t> for downstream evaluation/interpretation.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66479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F95A9-280E-F2EE-7071-8E217BF9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A5D4F-93AD-20DD-9F5E-3CF7E3A30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b="1" dirty="0"/>
              <a:t>Required Data (example)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5C1BB-C8B6-67BF-6AB2-463973812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523" y="188493"/>
            <a:ext cx="5786620" cy="3240507"/>
          </a:xfrm>
          <a:prstGeom prst="rect">
            <a:avLst/>
          </a:prstGeom>
        </p:spPr>
      </p:pic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16F9D157-E6B7-D036-DD2D-49B10138D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880611"/>
              </p:ext>
            </p:extLst>
          </p:nvPr>
        </p:nvGraphicFramePr>
        <p:xfrm>
          <a:off x="630936" y="2660904"/>
          <a:ext cx="4818888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BD863D-52DF-F3C8-C891-5AA0922889A0}"/>
              </a:ext>
            </a:extLst>
          </p:cNvPr>
          <p:cNvSpPr txBox="1"/>
          <p:nvPr/>
        </p:nvSpPr>
        <p:spPr>
          <a:xfrm>
            <a:off x="1083212" y="3858105"/>
            <a:ext cx="39143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Selected trait-associated SNPs and retained those present in the Turkish population database.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4F244-7A34-E5E8-3385-79AFDE3CFCD0}"/>
              </a:ext>
            </a:extLst>
          </p:cNvPr>
          <p:cNvSpPr txBox="1"/>
          <p:nvPr/>
        </p:nvSpPr>
        <p:spPr>
          <a:xfrm>
            <a:off x="6078522" y="3858105"/>
            <a:ext cx="54825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PGS (bone fraction trait) = around 700K</a:t>
            </a:r>
          </a:p>
          <a:p>
            <a:r>
              <a:rPr lang="en-AU" dirty="0"/>
              <a:t>Turkish = </a:t>
            </a:r>
            <a:r>
              <a:rPr lang="en-GB" dirty="0"/>
              <a:t>2979</a:t>
            </a:r>
          </a:p>
          <a:p>
            <a:endParaRPr lang="en-GB" dirty="0"/>
          </a:p>
          <a:p>
            <a:r>
              <a:rPr lang="en-GB" dirty="0"/>
              <a:t>Model one (penalized logistic regression) </a:t>
            </a:r>
            <a:r>
              <a:rPr lang="en-GB" b="1" dirty="0"/>
              <a:t>PLR</a:t>
            </a:r>
            <a:r>
              <a:rPr lang="en-GB" dirty="0"/>
              <a:t> </a:t>
            </a:r>
          </a:p>
          <a:p>
            <a:r>
              <a:rPr lang="en-GB" dirty="0"/>
              <a:t>Model two (linkage disequilibrium pred2) </a:t>
            </a:r>
            <a:r>
              <a:rPr lang="en-GB" b="1" dirty="0"/>
              <a:t>LDpred2</a:t>
            </a:r>
            <a:r>
              <a:rPr lang="en-GB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087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61BC-C49C-10EA-A42C-6ED987DE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QC TGD output</a:t>
            </a:r>
            <a:r>
              <a:rPr lang="en-GB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6C74-359D-2C45-76F8-1C0A45DD3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/>
              <a:t>drop not found</a:t>
            </a:r>
          </a:p>
          <a:p>
            <a:pPr lvl="1"/>
            <a:r>
              <a:rPr lang="en-GB" dirty="0"/>
              <a:t>drop missing AF/AC/AN</a:t>
            </a:r>
          </a:p>
          <a:p>
            <a:pPr lvl="1"/>
            <a:r>
              <a:rPr lang="en-GB" dirty="0"/>
              <a:t>drop allele mismatches (PGS vs TGD ref/alt)</a:t>
            </a:r>
          </a:p>
        </p:txBody>
      </p:sp>
    </p:spTree>
    <p:extLst>
      <p:ext uri="{BB962C8B-B14F-4D97-AF65-F5344CB8AC3E}">
        <p14:creationId xmlns:p14="http://schemas.microsoft.com/office/powerpoint/2010/main" val="362147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9451-B84D-6034-C672-A5CBBAAE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GB" sz="3200" b="1">
                <a:latin typeface="-apple-system"/>
              </a:rPr>
              <a:t>Final Turkish panel list</a:t>
            </a:r>
            <a:r>
              <a:rPr lang="en-GB" sz="3200">
                <a:latin typeface="-apple-system"/>
              </a:rPr>
              <a:t>:</a:t>
            </a:r>
            <a:endParaRPr lang="en-GB" sz="32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24F24F8-C740-0059-2A34-D05DB7FAB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89" r="17376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A0AFB-2AFC-96B4-63C0-FFB050355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GB" sz="2000" dirty="0">
                <a:latin typeface="Monaspace Neon"/>
              </a:rPr>
              <a:t>panel.PRSxTGD.txt</a:t>
            </a:r>
            <a:r>
              <a:rPr lang="en-GB" sz="2000" dirty="0">
                <a:latin typeface="-apple-system"/>
              </a:rPr>
              <a:t> = SNPs present in both PRS model(s) and TGD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93854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2FFD-DBC8-77EB-D4C0-1D7F58F0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 sum up: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CCB1-6A1C-97B1-4D1E-0CE130047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Use the ancestry group reported in the original publication (training/validation cohorts) that is most comparable to the Turkish population for downstream evaluation and interpretation, because PRS performance and calibration vary across ancestries.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528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DF9B-A307-9283-185C-01CC119A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References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5D3281-428C-48C8-263E-F46D044E72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4"/>
            <a:ext cx="101486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Wand H, Lambert SA, Tamburro C, et al.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reporting standards for polygenic scores in risk prediction studies (PRS-RS).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(2021).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 tooltip="Improving reporting standards for polygenic scores in risk ..."/>
              </a:rPr>
              <a:t>PMC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PGS Catalog documentation: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Ancestry reporting / ancestry description framework used by PGS Catalog (aligned with GWAS Catalog framework and PRS-RS).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 tooltip="PGS Catalog - Polygenic Score - Ancestry Description"/>
              </a:rPr>
              <a:t>pgscatalog.org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Lambert SA, et al.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Polygenic Score (PGS) Catalog: new functionality and tools…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(includes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/interpretation using ancestry-aware reference distributions / similar populations).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Nucleic Acids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(2024).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 tooltip="The Polygenic Score Catalog: new functionality and tools to ..."/>
              </a:rPr>
              <a:t>PMC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Privé F, et al.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Portability of 245 polygenic scores when derived and applied in multiple ancestry groups within the same cohort.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American Journal of Human Genetics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(2022).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 tooltip="Article Portability of 245 polygenic scores when derived ..."/>
              </a:rPr>
              <a:t>ScienceDirect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4032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4526</TotalTime>
  <Words>523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Monaspace Neon</vt:lpstr>
      <vt:lpstr>Office 2013 - 2022 Theme</vt:lpstr>
      <vt:lpstr>Polygenic Risk Score (PRS)</vt:lpstr>
      <vt:lpstr>What’s a Polygenic Risk Score?</vt:lpstr>
      <vt:lpstr>PowerPoint Presentation</vt:lpstr>
      <vt:lpstr>Effect size - βi</vt:lpstr>
      <vt:lpstr>PRS applications</vt:lpstr>
      <vt:lpstr>Required Data (example)</vt:lpstr>
      <vt:lpstr>Harmonise each model to one genome build (e.g., hg19 or hg38): </vt:lpstr>
      <vt:lpstr>Required Data (example)</vt:lpstr>
      <vt:lpstr>QC TGD output:</vt:lpstr>
      <vt:lpstr>Final Turkish panel list:</vt:lpstr>
      <vt:lpstr>To sum up: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İshak Yusuf</dc:creator>
  <cp:lastModifiedBy>İshak Yusuf</cp:lastModifiedBy>
  <cp:revision>5</cp:revision>
  <dcterms:created xsi:type="dcterms:W3CDTF">2026-01-03T13:08:31Z</dcterms:created>
  <dcterms:modified xsi:type="dcterms:W3CDTF">2026-01-13T08:34:01Z</dcterms:modified>
</cp:coreProperties>
</file>